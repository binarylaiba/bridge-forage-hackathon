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F_MASTER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BRIDGEFORGE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372600" y="647395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Bob 2.0 Hackathon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6424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67160" y="548640"/>
            <a:ext cx="0" cy="557784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64008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64592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14884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65176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15468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65760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16052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66344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16636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66928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172200"/>
            <a:ext cx="11201400" cy="0"/>
          </a:xfrm>
          <a:prstGeom prst="line">
            <a:avLst/>
          </a:prstGeom>
          <a:noFill/>
          <a:ln w="6350">
            <a:solidFill>
              <a:srgbClr val="233044">
                <a:alpha val="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594360"/>
            <a:ext cx="4297680" cy="4297680"/>
          </a:xfrm>
          <a:prstGeom prst="ellipse">
            <a:avLst/>
          </a:prstGeom>
          <a:solidFill>
            <a:srgbClr val="0F62FE">
              <a:alpha val="12000"/>
            </a:srgbClr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1097280"/>
            <a:ext cx="3383280" cy="3383280"/>
          </a:xfrm>
          <a:prstGeom prst="ellipse">
            <a:avLst/>
          </a:prstGeom>
          <a:solidFill>
            <a:srgbClr val="8A3FFC">
              <a:alpha val="10000"/>
            </a:srgbClr>
          </a:solidFill>
          <a:ln w="12700">
            <a:solidFill>
              <a:srgbClr val="8A3FFC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" y="77724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0C2858"/>
          </a:solidFill>
          <a:ln w="8890">
            <a:solidFill>
              <a:srgbClr val="0F62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" y="827532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D3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BOB 2.0 HACKATHON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" y="1389888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BridgeForge</a:t>
            </a:r>
            <a:endParaRPr lang="en-US" sz="4000" dirty="0"/>
          </a:p>
        </p:txBody>
      </p:sp>
      <p:sp>
        <p:nvSpPr>
          <p:cNvPr id="42" name="Text 40"/>
          <p:cNvSpPr/>
          <p:nvPr/>
        </p:nvSpPr>
        <p:spPr>
          <a:xfrm>
            <a:off x="621792" y="2240280"/>
            <a:ext cx="5897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 contract drift.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Synchronize dependent artifacts automatically.</a:t>
            </a:r>
            <a:endParaRPr lang="en-US" sz="2300" dirty="0"/>
          </a:p>
        </p:txBody>
      </p:sp>
      <p:sp>
        <p:nvSpPr>
          <p:cNvPr id="43" name="Text 41"/>
          <p:cNvSpPr/>
          <p:nvPr/>
        </p:nvSpPr>
        <p:spPr>
          <a:xfrm>
            <a:off x="640080" y="36850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AI-powered API contract synchronization layer built around IBM Bob Shell.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58368" y="4599432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101D33"/>
          </a:solidFill>
          <a:ln w="8890">
            <a:solidFill>
              <a:srgbClr val="2A3B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649724"/>
            <a:ext cx="13350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Node.js / Express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58568" y="4599432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101D33"/>
          </a:solidFill>
          <a:ln w="8890">
            <a:solidFill>
              <a:srgbClr val="2A3B5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4649724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Chokidar Watcher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50208" y="459943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C1640"/>
          </a:solidFill>
          <a:ln w="8890">
            <a:solidFill>
              <a:srgbClr val="8A3F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464972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D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Bob Shell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40680" y="4599432"/>
            <a:ext cx="1517904" cy="274320"/>
          </a:xfrm>
          <a:prstGeom prst="roundRect">
            <a:avLst>
              <a:gd name="adj" fmla="val 20000"/>
            </a:avLst>
          </a:prstGeom>
          <a:solidFill>
            <a:srgbClr val="102533"/>
          </a:solidFill>
          <a:ln w="8890">
            <a:solidFill>
              <a:srgbClr val="11D3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64972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FFA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React Dashboard</a:t>
            </a:r>
            <a:endParaRPr lang="en-US" sz="900" dirty="0"/>
          </a:p>
        </p:txBody>
      </p:sp>
      <p:pic>
        <p:nvPicPr>
          <p:cNvPr id="52" name="Image 0" descr="/mnt/data/bridgeforge_deck_src/frontend/src/asset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847" y="1051560"/>
            <a:ext cx="3431786" cy="3611880"/>
          </a:xfrm>
          <a:prstGeom prst="rect">
            <a:avLst/>
          </a:prstGeom>
        </p:spPr>
      </p:pic>
      <p:sp>
        <p:nvSpPr>
          <p:cNvPr id="53" name="Shape 50"/>
          <p:cNvSpPr/>
          <p:nvPr/>
        </p:nvSpPr>
        <p:spPr>
          <a:xfrm>
            <a:off x="7452360" y="4645152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0F62F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7616952" y="4855464"/>
            <a:ext cx="256032" cy="25603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982712" y="47914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Backend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7982712" y="5074920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of truth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9043416" y="4645152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8A3FF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9208008" y="4855464"/>
            <a:ext cx="256032" cy="256032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573768" y="47914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Bob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9573768" y="5074920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sync agent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10634472" y="4645152"/>
            <a:ext cx="105156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11D3F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10799064" y="4855464"/>
            <a:ext cx="256032" cy="256032"/>
          </a:xfrm>
          <a:prstGeom prst="ellipse">
            <a:avLst/>
          </a:prstGeom>
          <a:solidFill>
            <a:srgbClr val="11D3F3"/>
          </a:solidFill>
          <a:ln w="12700">
            <a:solidFill>
              <a:srgbClr val="11D3F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1164824" y="47914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Docs</a:t>
            </a:r>
            <a:endParaRPr lang="en-US" sz="1300" dirty="0"/>
          </a:p>
        </p:txBody>
      </p:sp>
      <p:sp>
        <p:nvSpPr>
          <p:cNvPr id="64" name="Text 61"/>
          <p:cNvSpPr/>
          <p:nvPr/>
        </p:nvSpPr>
        <p:spPr>
          <a:xfrm>
            <a:off x="11164824" y="5074920"/>
            <a:ext cx="301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updated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8759952" y="4983480"/>
            <a:ext cx="256032" cy="0"/>
          </a:xfrm>
          <a:prstGeom prst="line">
            <a:avLst/>
          </a:prstGeom>
          <a:noFill/>
          <a:ln w="26670">
            <a:solidFill>
              <a:srgbClr val="4589FF"/>
            </a:solidFill>
            <a:prstDash val="solid"/>
            <a:headEnd type="none"/>
            <a:tailEnd type="triangle"/>
          </a:ln>
        </p:spPr>
      </p:sp>
      <p:sp>
        <p:nvSpPr>
          <p:cNvPr id="66" name="Shape 63"/>
          <p:cNvSpPr/>
          <p:nvPr/>
        </p:nvSpPr>
        <p:spPr>
          <a:xfrm>
            <a:off x="10369296" y="4983480"/>
            <a:ext cx="237744" cy="0"/>
          </a:xfrm>
          <a:prstGeom prst="line">
            <a:avLst/>
          </a:prstGeom>
          <a:noFill/>
          <a:ln w="26670">
            <a:solidFill>
              <a:srgbClr val="8A3FFC"/>
            </a:solidFill>
            <a:prstDash val="solid"/>
            <a:headEnd type="none"/>
            <a:tailEnd type="triangle"/>
          </a:ln>
        </p:spPr>
      </p:sp>
      <p:sp>
        <p:nvSpPr>
          <p:cNvPr id="67" name="Text 64"/>
          <p:cNvSpPr/>
          <p:nvPr/>
        </p:nvSpPr>
        <p:spPr>
          <a:xfrm>
            <a:off x="7479792" y="5650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Cross-stack auto-sync prototype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D3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18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contract drift hides inside normal refactors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one-field backend change can instantly make downstream artifacts disagree with the source of truth.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0B111D"/>
          </a:solidFill>
          <a:ln w="12700">
            <a:solidFill>
              <a:srgbClr val="2938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84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A “small” backend change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60520" y="205740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31E31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33672" y="2107692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products.js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4315968" cy="1298448"/>
          </a:xfrm>
          <a:prstGeom prst="roundRect">
            <a:avLst>
              <a:gd name="adj" fmla="val 5634"/>
            </a:avLst>
          </a:prstGeom>
          <a:solidFill>
            <a:srgbClr val="05080E"/>
          </a:solidFill>
          <a:ln w="12700">
            <a:solidFill>
              <a:srgbClr val="1D2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670048"/>
            <a:ext cx="91440" cy="91440"/>
          </a:xfrm>
          <a:prstGeom prst="roundRect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" y="2670048"/>
            <a:ext cx="91440" cy="91440"/>
          </a:xfrm>
          <a:prstGeom prst="round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61872" y="2670048"/>
            <a:ext cx="91440" cy="91440"/>
          </a:xfrm>
          <a:prstGeom prst="round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926080"/>
            <a:ext cx="398678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94A3B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{ 
</a:t>
            </a:r>
            <a:pPr indent="0" marL="0">
              <a:buNone/>
            </a:pPr>
            <a:r>
              <a:rPr lang="en-US" sz="1160" b="1" dirty="0">
                <a:solidFill>
                  <a:srgbClr val="DA1E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title
</a:t>
            </a:r>
            <a:pPr indent="0" marL="0">
              <a:buNone/>
            </a:pPr>
            <a:r>
              <a:rPr lang="en-US" sz="1160" dirty="0">
                <a:solidFill>
                  <a:srgbClr val="94A3B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, price } = req.body;
</a:t>
            </a:r>
            <a:pPr indent="0" marL="0">
              <a:buNone/>
            </a:pPr>
            <a:r>
              <a:rPr lang="en-US" sz="116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↓ rename
</a:t>
            </a:r>
            <a:pPr indent="0" marL="0">
              <a:buNone/>
            </a:pPr>
            <a:r>
              <a:rPr lang="en-US" sz="116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1160" dirty="0">
                <a:solidFill>
                  <a:srgbClr val="94A3B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{ 
</a:t>
            </a:r>
            <a:pPr indent="0" marL="0">
              <a:buNone/>
            </a:pPr>
            <a:r>
              <a:rPr lang="en-US" sz="1160" b="1" dirty="0">
                <a:solidFill>
                  <a:srgbClr val="11D3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productName
</a:t>
            </a:r>
            <a:pPr indent="0" marL="0">
              <a:buNone/>
            </a:pPr>
            <a:r>
              <a:rPr lang="en-US" sz="1160" dirty="0">
                <a:solidFill>
                  <a:srgbClr val="94A3B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, price } = req.body;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841248" y="4069080"/>
            <a:ext cx="431596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The backend is correct immediately. Everything that still expects `title` is now at risk.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89204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3A171A"/>
          </a:solidFill>
          <a:ln w="8890">
            <a:solidFill>
              <a:srgbClr val="DA1E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942332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ECAC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Hidden coupling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486460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hard part is not changing the API — it is finding every dependent artifact.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06440" y="1856232"/>
            <a:ext cx="5806440" cy="768096"/>
          </a:xfrm>
          <a:prstGeom prst="roundRect">
            <a:avLst>
              <a:gd name="adj" fmla="val 9524"/>
            </a:avLst>
          </a:prstGeom>
          <a:solidFill>
            <a:srgbClr val="0D1523"/>
          </a:solidFill>
          <a:ln w="12700">
            <a:solidFill>
              <a:srgbClr val="2434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3328" y="2066544"/>
            <a:ext cx="310896" cy="310896"/>
          </a:xfrm>
          <a:prstGeom prst="ellipse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API docs go stale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77072" y="1965960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4A3B8"/>
                </a:solidFill>
              </a:rPr>
              <a:t>Human-readable examples and tables still describe the old field.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806440" y="2788920"/>
            <a:ext cx="5806440" cy="768096"/>
          </a:xfrm>
          <a:prstGeom prst="roundRect">
            <a:avLst>
              <a:gd name="adj" fmla="val 9524"/>
            </a:avLst>
          </a:prstGeom>
          <a:solidFill>
            <a:srgbClr val="0B1320"/>
          </a:solidFill>
          <a:ln w="12700">
            <a:solidFill>
              <a:srgbClr val="2434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53328" y="2999232"/>
            <a:ext cx="310896" cy="310896"/>
          </a:xfrm>
          <a:prstGeom prst="ellipse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898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OpenAPI diverges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77072" y="2898648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4A3B8"/>
                </a:solidFill>
              </a:rPr>
              <a:t>Machine-readable schemas no longer match the implementation.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806440" y="3721608"/>
            <a:ext cx="5806440" cy="768096"/>
          </a:xfrm>
          <a:prstGeom prst="roundRect">
            <a:avLst>
              <a:gd name="adj" fmla="val 9524"/>
            </a:avLst>
          </a:prstGeom>
          <a:solidFill>
            <a:srgbClr val="0D1523"/>
          </a:solidFill>
          <a:ln w="12700">
            <a:solidFill>
              <a:srgbClr val="2434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3328" y="3931920"/>
            <a:ext cx="310896" cy="310896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8313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Clients can mismatch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77072" y="3831336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4A3B8"/>
                </a:solidFill>
              </a:rPr>
              <a:t>Frontend code may still bind to the previous response shape.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5806440" y="4654296"/>
            <a:ext cx="5806440" cy="768096"/>
          </a:xfrm>
          <a:prstGeom prst="roundRect">
            <a:avLst>
              <a:gd name="adj" fmla="val 9524"/>
            </a:avLst>
          </a:prstGeom>
          <a:solidFill>
            <a:srgbClr val="0B1320"/>
          </a:solidFill>
          <a:ln w="12700">
            <a:solidFill>
              <a:srgbClr val="2434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53328" y="4864608"/>
            <a:ext cx="310896" cy="310896"/>
          </a:xfrm>
          <a:prstGeom prst="ellipse">
            <a:avLst/>
          </a:prstGeom>
          <a:solidFill>
            <a:srgbClr val="4589FF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7640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Teams coordinate manually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77072" y="4764024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4A3B8"/>
                </a:solidFill>
              </a:rPr>
              <a:t>Developers hunt through files, tickets, and reviews to repair drift.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806440" y="5696712"/>
            <a:ext cx="5806440" cy="402336"/>
          </a:xfrm>
          <a:prstGeom prst="roundRect">
            <a:avLst/>
          </a:prstGeom>
          <a:solidFill>
            <a:srgbClr val="0A2648"/>
          </a:solidFill>
          <a:ln w="12700">
            <a:solidFill>
              <a:srgbClr val="164E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53328" y="5779008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BEAFE"/>
                </a:solidFill>
              </a:rPr>
              <a:t>BridgeForge targets the gap between “code changed” and “everything downstream caught up.”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D3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18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 IBM Bob into an automated synchronization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BridgeForge monitors backend changes, invokes Bob Shell, and updates dependent API documentation from the source of truth.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21792" y="1792224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0B2A4D"/>
          </a:solidFill>
          <a:ln w="889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84251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BFDB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 AUTOMATION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0F62F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0392" y="2606040"/>
            <a:ext cx="347472" cy="34747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5420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Backend API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2825496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Express routes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change contract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239572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11D3F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2606040"/>
            <a:ext cx="347472" cy="347472"/>
          </a:xfrm>
          <a:prstGeom prst="ellipse">
            <a:avLst/>
          </a:prstGeom>
          <a:solidFill>
            <a:srgbClr val="11D3F3"/>
          </a:solidFill>
          <a:ln w="12700">
            <a:solidFill>
              <a:srgbClr val="11D3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5420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Watcher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03320" y="2825496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Node.js + chokidar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detects route changes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40680" y="239572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8A3FF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05272" y="2606040"/>
            <a:ext cx="347472" cy="347472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5420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Bob Shell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080760" y="2825496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Headless `bob -p`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reads repo 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18120" y="2395728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1980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82712" y="2606040"/>
            <a:ext cx="347472" cy="347472"/>
          </a:xfrm>
          <a:prstGeom prst="ellipse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542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Synchronized docs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58200" y="2825496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`docs/API.md`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`docs/openapi.json`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06040" y="2926080"/>
            <a:ext cx="393192" cy="0"/>
          </a:xfrm>
          <a:prstGeom prst="line">
            <a:avLst/>
          </a:prstGeom>
          <a:noFill/>
          <a:ln w="31750">
            <a:solidFill>
              <a:srgbClr val="4589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83480" y="2926080"/>
            <a:ext cx="393192" cy="0"/>
          </a:xfrm>
          <a:prstGeom prst="line">
            <a:avLst/>
          </a:prstGeom>
          <a:noFill/>
          <a:ln w="31750">
            <a:solidFill>
              <a:srgbClr val="11D3F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60920" y="2926080"/>
            <a:ext cx="393192" cy="0"/>
          </a:xfrm>
          <a:prstGeom prst="line">
            <a:avLst/>
          </a:prstGeom>
          <a:noFill/>
          <a:ln w="31750">
            <a:solidFill>
              <a:srgbClr val="8A3FF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40680" y="3730752"/>
            <a:ext cx="5989320" cy="1188720"/>
          </a:xfrm>
          <a:prstGeom prst="roundRect">
            <a:avLst>
              <a:gd name="adj" fmla="val 6154"/>
            </a:avLst>
          </a:prstGeom>
          <a:solidFill>
            <a:srgbClr val="0C1220"/>
          </a:solidFill>
          <a:ln w="12700">
            <a:solidFill>
              <a:srgbClr val="2D24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50992" y="39044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21183C"/>
          </a:solidFill>
          <a:ln w="8890">
            <a:solidFill>
              <a:srgbClr val="8A3F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24144" y="3954780"/>
            <a:ext cx="859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9D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BOB CONTEXT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839712" y="3913632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Changed file path + repository context → current contract → targeted doc edits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50992" y="4343400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The prototype uses the backend implementation as the source of truth and asks Bob to update only the supported documentation artifacts.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1792" y="5230368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10313C"/>
          </a:solidFill>
          <a:ln w="8890">
            <a:solidFill>
              <a:srgbClr val="11D3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5280660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FFA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VISUALIZATION LAYER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267712" y="5102352"/>
            <a:ext cx="9162288" cy="841248"/>
          </a:xfrm>
          <a:prstGeom prst="roundRect">
            <a:avLst>
              <a:gd name="adj" fmla="val 8696"/>
            </a:avLst>
          </a:prstGeom>
          <a:solidFill>
            <a:srgbClr val="0A111C"/>
          </a:solidFill>
          <a:ln w="12700">
            <a:solidFill>
              <a:srgbClr val="2042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14600" y="5404104"/>
            <a:ext cx="146304" cy="146304"/>
          </a:xfrm>
          <a:prstGeom prst="ellipse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34056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Contract drift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4663440" y="5404104"/>
            <a:ext cx="146304" cy="146304"/>
          </a:xfrm>
          <a:prstGeom prst="ellipse">
            <a:avLst/>
          </a:prstGeom>
          <a:solidFill>
            <a:srgbClr val="4589FF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Blast radius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6812280" y="5404104"/>
            <a:ext cx="146304" cy="146304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31736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Before / after diff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8961120" y="5404104"/>
            <a:ext cx="146304" cy="146304"/>
          </a:xfrm>
          <a:prstGeom prst="ellipse">
            <a:avLst/>
          </a:prstGeom>
          <a:solidFill>
            <a:srgbClr val="11D3F3"/>
          </a:solidFill>
          <a:ln w="12700">
            <a:solidFill>
              <a:srgbClr val="11D3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80576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Sync workflow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2542032" y="569671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React/Vite dashboard explains impact; it is not the execution engine.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D3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18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rename. Five visible stages.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entire prototype is built around a repeatable `title → productName` API-contract change.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0D1523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8038"/>
                </a:solidFill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" y="22128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Healthy baseline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542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</a:rPr>
              <a:t>`title` everywhere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560320" y="2359152"/>
            <a:ext cx="30175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810512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0D1523"/>
          </a:solidFill>
          <a:ln w="12700">
            <a:solidFill>
              <a:srgbClr val="DA1E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A1E28"/>
                </a:solidFill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72384" y="22128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Backend refactor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542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</a:rPr>
              <a:t>`title → productName`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846320" y="2359152"/>
            <a:ext cx="30175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1810512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0D1523"/>
          </a:solidFill>
          <a:ln w="12700">
            <a:solidFill>
              <a:srgbClr val="11D3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D3F3"/>
                </a:solidFill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58384" y="22128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Watcher detects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58384" y="2542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</a:rPr>
              <a:t>route file changed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132320" y="2359152"/>
            <a:ext cx="30175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0" y="1810512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0D1523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44384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3FFC"/>
                </a:solidFill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44384" y="22128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Bob synchronizes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44384" y="2542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</a:rPr>
              <a:t>API.md + OpenAPI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418320" y="2359152"/>
            <a:ext cx="30175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84080" y="1810512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0D1523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30384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589FF"/>
                </a:solidFill>
              </a:rPr>
              <a:t>05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30384" y="22128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Verify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930384" y="2542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</a:rPr>
              <a:t>`productName` everywhere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58368" y="32461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Backend contract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" y="3547872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05080E"/>
          </a:solidFill>
          <a:ln w="12700">
            <a:solidFill>
              <a:srgbClr val="2232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3675888"/>
            <a:ext cx="91440" cy="91440"/>
          </a:xfrm>
          <a:prstGeom prst="roundRect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1832" y="3675888"/>
            <a:ext cx="91440" cy="91440"/>
          </a:xfrm>
          <a:prstGeom prst="round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" y="3675888"/>
            <a:ext cx="91440" cy="91440"/>
          </a:xfrm>
          <a:prstGeom prst="round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931920"/>
            <a:ext cx="4517136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6474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BEFORE
</a:t>
            </a:r>
            <a:pPr indent="0" marL="0">
              <a:buNone/>
            </a:pPr>
            <a:r>
              <a:rPr lang="en-US" sz="1320" b="1" dirty="0">
                <a:solidFill>
                  <a:srgbClr val="DA1E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"title": "Widget A"
</a:t>
            </a:r>
            <a:pPr indent="0" marL="0">
              <a:buNone/>
            </a:pPr>
            <a:r>
              <a:rPr lang="en-US" sz="13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indent="0" marL="0">
              <a:buNone/>
            </a:pPr>
            <a:r>
              <a:rPr lang="en-US" sz="1320" b="1" dirty="0">
                <a:solidFill>
                  <a:srgbClr val="6474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AFTER
</a:t>
            </a:r>
            <a:pPr indent="0" marL="0">
              <a:buNone/>
            </a:pPr>
            <a:r>
              <a:rPr lang="en-US" sz="1320" b="1" dirty="0">
                <a:solidFill>
                  <a:srgbClr val="11D3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"productName": "Widget A"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5870448" y="3246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Bob-updated artifacts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870448" y="3547872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0A111C"/>
          </a:solidFill>
          <a:ln w="12700">
            <a:solidFill>
              <a:srgbClr val="2636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3822192"/>
            <a:ext cx="1920240" cy="475488"/>
          </a:xfrm>
          <a:prstGeom prst="roundRect">
            <a:avLst/>
          </a:prstGeom>
          <a:solidFill>
            <a:srgbClr val="0D2444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941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docs/API.md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8302752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Human-readable tables + examples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149840" y="3922776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12385D"/>
          </a:solidFill>
          <a:ln w="8890">
            <a:solidFill>
              <a:srgbClr val="4589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22992" y="397306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FDB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productName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126480" y="4572000"/>
            <a:ext cx="1920240" cy="475488"/>
          </a:xfrm>
          <a:prstGeom prst="roundRect">
            <a:avLst/>
          </a:prstGeom>
          <a:solidFill>
            <a:srgbClr val="21183D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46908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docs/openapi.json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8302752" y="4663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Machine-readable schema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149840" y="4672584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321B5A"/>
          </a:solidFill>
          <a:ln w="8890">
            <a:solidFill>
              <a:srgbClr val="8A3F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22992" y="4722876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9D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productName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8641080" y="5065776"/>
            <a:ext cx="2286000" cy="0"/>
          </a:xfrm>
          <a:prstGeom prst="line">
            <a:avLst/>
          </a:prstGeom>
          <a:noFill/>
          <a:ln w="20320">
            <a:solidFill>
              <a:srgbClr val="1980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0" y="5184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BF7D0"/>
                </a:solidFill>
              </a:rPr>
              <a:t>Source of truth restored across supported docs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D3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EXPERIENCE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18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Make contract drift understandable, not invisible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dashboard turns a backend mismatch into a visual story: what changed, what is affected, and what synchronization looks like.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1018520" cy="4224528"/>
          </a:xfrm>
          <a:prstGeom prst="roundRect">
            <a:avLst>
              <a:gd name="adj" fmla="val 1732"/>
            </a:avLst>
          </a:prstGeom>
          <a:solidFill>
            <a:srgbClr val="05080E"/>
          </a:solidFill>
          <a:ln w="12700">
            <a:solidFill>
              <a:srgbClr val="2836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764792"/>
            <a:ext cx="11000232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901952"/>
            <a:ext cx="91440" cy="91440"/>
          </a:xfrm>
          <a:prstGeom prst="ellipse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" y="1901952"/>
            <a:ext cx="91440" cy="91440"/>
          </a:xfrm>
          <a:prstGeom prst="ellipse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7864" y="1901952"/>
            <a:ext cx="91440" cy="91440"/>
          </a:xfrm>
          <a:prstGeom prst="ellipse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856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BridgeForge — Cross-stack Auto-Sync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0392" y="2395728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0B111C"/>
          </a:solidFill>
          <a:ln w="12700">
            <a:solidFill>
              <a:srgbClr val="1D2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542032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10313C"/>
          </a:solidFill>
          <a:ln w="8890">
            <a:solidFill>
              <a:srgbClr val="11D3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92324"/>
            <a:ext cx="996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FFA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24128" y="29077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Blast radius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078992" y="323697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0F62F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43584" y="3447288"/>
            <a:ext cx="256032" cy="25603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9344" y="33832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9344" y="3666744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71800" y="2944368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11D3F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36392" y="3154680"/>
            <a:ext cx="256032" cy="256032"/>
          </a:xfrm>
          <a:prstGeom prst="ellipse">
            <a:avLst/>
          </a:prstGeom>
          <a:solidFill>
            <a:srgbClr val="11D3F3"/>
          </a:solidFill>
          <a:ln w="12700">
            <a:solidFill>
              <a:srgbClr val="11D3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30906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API.md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02152" y="3374136"/>
            <a:ext cx="667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stale → sync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71800" y="3767328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8A3FF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36392" y="3977640"/>
            <a:ext cx="256032" cy="256032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9136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02152" y="4197096"/>
            <a:ext cx="667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stale → sync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346704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DA1E2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10912" y="3557016"/>
            <a:ext cx="256032" cy="256032"/>
          </a:xfrm>
          <a:prstGeom prst="ellipse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34930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76672" y="3776472"/>
            <a:ext cx="667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87752" y="3547872"/>
            <a:ext cx="301752" cy="-283464"/>
          </a:xfrm>
          <a:prstGeom prst="line">
            <a:avLst/>
          </a:prstGeom>
          <a:noFill/>
          <a:ln w="21590">
            <a:solidFill>
              <a:srgbClr val="4589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587752" y="3593592"/>
            <a:ext cx="301752" cy="457200"/>
          </a:xfrm>
          <a:prstGeom prst="line">
            <a:avLst/>
          </a:prstGeom>
          <a:noFill/>
          <a:ln w="21590">
            <a:solidFill>
              <a:srgbClr val="4589F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407408" y="3255264"/>
            <a:ext cx="365760" cy="310896"/>
          </a:xfrm>
          <a:prstGeom prst="line">
            <a:avLst/>
          </a:prstGeom>
          <a:noFill/>
          <a:ln w="17780">
            <a:solidFill>
              <a:srgbClr val="64748B"/>
            </a:solidFill>
            <a:prstDash val="dash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407408" y="4059936"/>
            <a:ext cx="365760" cy="-402336"/>
          </a:xfrm>
          <a:prstGeom prst="line">
            <a:avLst/>
          </a:prstGeom>
          <a:noFill/>
          <a:ln w="17780">
            <a:solidFill>
              <a:srgbClr val="64748B"/>
            </a:solidFill>
            <a:prstDash val="dash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024128" y="4544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Before / after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1024128" y="4828032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05080E"/>
          </a:solidFill>
          <a:ln w="12700">
            <a:solidFill>
              <a:srgbClr val="2434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49834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 "title"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2651760" y="498348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7E8F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+ "productName"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4315968" y="49651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docs/API.md   •   docs/openapi.json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14032" y="2395728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0D1523"/>
          </a:solidFill>
          <a:ln w="12700">
            <a:solidFill>
              <a:srgbClr val="2434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33488" y="25968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Product Catalog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674352" y="2569464"/>
            <a:ext cx="1353312" cy="274320"/>
          </a:xfrm>
          <a:prstGeom prst="roundRect">
            <a:avLst>
              <a:gd name="adj" fmla="val 20000"/>
            </a:avLst>
          </a:prstGeom>
          <a:solidFill>
            <a:srgbClr val="11331C"/>
          </a:solidFill>
          <a:ln w="8890">
            <a:solidFill>
              <a:srgbClr val="1980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47504" y="2619756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BBF7D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Contract in Sync</a:t>
            </a:r>
            <a:endParaRPr lang="en-US" sz="790" dirty="0"/>
          </a:p>
        </p:txBody>
      </p:sp>
      <p:sp>
        <p:nvSpPr>
          <p:cNvPr id="44" name="Shape 42"/>
          <p:cNvSpPr/>
          <p:nvPr/>
        </p:nvSpPr>
        <p:spPr>
          <a:xfrm>
            <a:off x="7333488" y="2999232"/>
            <a:ext cx="3639312" cy="438912"/>
          </a:xfrm>
          <a:prstGeom prst="roundRect">
            <a:avLst>
              <a:gd name="adj" fmla="val 16667"/>
            </a:avLst>
          </a:prstGeom>
          <a:solidFill>
            <a:srgbClr val="101A2A"/>
          </a:solidFill>
          <a:ln w="12700">
            <a:solidFill>
              <a:srgbClr val="2234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79792" y="31089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</a:rPr>
              <a:t>Widget A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9875520" y="31089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BAE6FD"/>
                </a:solidFill>
              </a:rPr>
              <a:t>$9.99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7333488" y="3602736"/>
            <a:ext cx="3639312" cy="438912"/>
          </a:xfrm>
          <a:prstGeom prst="roundRect">
            <a:avLst>
              <a:gd name="adj" fmla="val 16667"/>
            </a:avLst>
          </a:prstGeom>
          <a:solidFill>
            <a:srgbClr val="0D1725"/>
          </a:solidFill>
          <a:ln w="12700">
            <a:solidFill>
              <a:srgbClr val="2234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79792" y="371246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</a:rPr>
              <a:t>Widget B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9875520" y="37124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BAE6FD"/>
                </a:solidFill>
              </a:rPr>
              <a:t>$19.99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7114032" y="4608576"/>
            <a:ext cx="4206240" cy="1033272"/>
          </a:xfrm>
          <a:prstGeom prst="roundRect">
            <a:avLst>
              <a:gd name="adj" fmla="val 7080"/>
            </a:avLst>
          </a:prstGeom>
          <a:solidFill>
            <a:srgbClr val="03070D"/>
          </a:solidFill>
          <a:ln w="12700">
            <a:solidFill>
              <a:srgbClr val="2434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33488" y="47731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64748B"/>
                </a:solidFill>
              </a:rPr>
              <a:t>Activity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7333488" y="502920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7F3D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[watcher] backend/routes/products.js changed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7F3D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[bob] synchronizing docs...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7F3D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[done] API contract updated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7342632" y="5769864"/>
            <a:ext cx="3639312" cy="274320"/>
          </a:xfrm>
          <a:prstGeom prst="roundRect">
            <a:avLst>
              <a:gd name="adj" fmla="val 20000"/>
            </a:avLst>
          </a:prstGeom>
          <a:solidFill>
            <a:srgbClr val="201733"/>
          </a:solidFill>
          <a:ln w="8890">
            <a:solidFill>
              <a:srgbClr val="8A3F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15784" y="5820156"/>
            <a:ext cx="3493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E9D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Workflow visualization — not live subagent telemetry</a:t>
            </a:r>
            <a:endParaRPr lang="en-US" sz="7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D3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IBM BOB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18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interactive assistant to automation primitive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BridgeForge invokes Bob programmatically and gives it repository context so synchronization can start when the code changes — not only when a developer asks.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2648" y="1810512"/>
            <a:ext cx="5897880" cy="4251960"/>
          </a:xfrm>
          <a:prstGeom prst="roundRect">
            <a:avLst>
              <a:gd name="adj" fmla="val 172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mnt/data/bridgeforge_deck_src/bob_sessions/ai-architect_04_developing-bac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01952"/>
            <a:ext cx="5724144" cy="3081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" y="4992624"/>
            <a:ext cx="5724144" cy="987552"/>
          </a:xfrm>
          <a:prstGeom prst="rect">
            <a:avLst/>
          </a:prstGeom>
          <a:solidFill>
            <a:srgbClr val="06090F"/>
          </a:solidFill>
          <a:ln w="12700">
            <a:solidFill>
              <a:srgbClr val="0609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395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4B5F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bob -p "Read backend/routes/products.js and synchronize API docs"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914400" y="55595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Actual Bob task session + headless invocation pattern used by BridgeForge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850392" y="2002536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21183C"/>
          </a:solidFill>
          <a:ln w="8890">
            <a:solidFill>
              <a:srgbClr val="8A3F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3544" y="2052828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9D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ACTUAL BOB SESSION</a:t>
            </a:r>
            <a:endParaRPr lang="en-US" sz="810" dirty="0"/>
          </a:p>
        </p:txBody>
      </p:sp>
      <p:sp>
        <p:nvSpPr>
          <p:cNvPr id="12" name="Shape 9"/>
          <p:cNvSpPr/>
          <p:nvPr/>
        </p:nvSpPr>
        <p:spPr>
          <a:xfrm>
            <a:off x="6876288" y="184708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0A2B25"/>
          </a:solidFill>
          <a:ln w="8890">
            <a:solidFill>
              <a:srgbClr val="1980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1897380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BF7D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 TODAY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6912864" y="2313432"/>
            <a:ext cx="164592" cy="164592"/>
          </a:xfrm>
          <a:prstGeom prst="ellipse">
            <a:avLst/>
          </a:prstGeom>
          <a:solidFill>
            <a:srgbClr val="4589FF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05472" y="22677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Repository context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979408" y="226771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Bob reads the changed backend source and relevant project files.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6912864" y="3227832"/>
            <a:ext cx="164592" cy="164592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05472" y="31821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Headless invocation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979408" y="318211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The watcher calls a single `bob -p` task automatically.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6912864" y="4142232"/>
            <a:ext cx="164592" cy="164592"/>
          </a:xfrm>
          <a:prstGeom prst="ellipse">
            <a:avLst/>
          </a:prstGeom>
          <a:solidFill>
            <a:srgbClr val="11D3F3"/>
          </a:solidFill>
          <a:ln w="12700">
            <a:solidFill>
              <a:srgbClr val="11D3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05472" y="40965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Concrete edits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979408" y="409651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Bob updates `docs/API.md` and `docs/openapi.json`.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6858000" y="5084064"/>
            <a:ext cx="4599432" cy="768096"/>
          </a:xfrm>
          <a:prstGeom prst="roundRect">
            <a:avLst>
              <a:gd name="adj" fmla="val 9524"/>
            </a:avLst>
          </a:prstGeom>
          <a:solidFill>
            <a:srgbClr val="0C1728"/>
          </a:solidFill>
          <a:ln w="12700">
            <a:solidFill>
              <a:srgbClr val="1D4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95744" y="5285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1D3F3"/>
                </a:solidFill>
              </a:rPr>
              <a:t>The key shift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8156448" y="52486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Change → detection → Bob → synchronized artifacts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7095744" y="55595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</a:rPr>
              <a:t>No manual chat prompt is required to start the workflow.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D3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WHERE BRIDGEFORGE GOES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18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Docs today. Cross-stack synchronization tomorrow.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prototype proves the trigger → context → AI edit loop; the same pattern can expand to more downstream consumers.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0A2B25"/>
          </a:solidFill>
          <a:ln w="8890">
            <a:solidFill>
              <a:srgbClr val="1980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9092"/>
            <a:ext cx="969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BBF7D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PROTOTYPE NOW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0C1715"/>
          </a:solidFill>
          <a:ln w="12700">
            <a:solidFill>
              <a:srgbClr val="1C5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871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BF7D0"/>
                </a:solidFill>
              </a:rPr>
              <a:t>Automated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32688" y="2907792"/>
            <a:ext cx="109728" cy="109728"/>
          </a:xfrm>
          <a:prstGeom prst="ellipse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8437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AFC"/>
                </a:solidFill>
              </a:rPr>
              <a:t>Detect backend route changes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932688" y="3255264"/>
            <a:ext cx="109728" cy="109728"/>
          </a:xfrm>
          <a:prstGeom prst="ellipse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1912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AFC"/>
                </a:solidFill>
              </a:rPr>
              <a:t>Invoke IBM Bob Shell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932688" y="3602736"/>
            <a:ext cx="109728" cy="109728"/>
          </a:xfrm>
          <a:prstGeom prst="ellipse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5387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AFC"/>
                </a:solidFill>
              </a:rPr>
              <a:t>Update API.md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932688" y="3950208"/>
            <a:ext cx="109728" cy="109728"/>
          </a:xfrm>
          <a:prstGeom prst="ellipse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8862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AFC"/>
                </a:solidFill>
              </a:rPr>
              <a:t>Update OpenAPI schema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4370832" y="1828800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1183C"/>
          </a:solidFill>
          <a:ln w="8890">
            <a:solidFill>
              <a:srgbClr val="8A3F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1879092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9D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370832" y="2212848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151126"/>
          </a:solidFill>
          <a:ln w="12700">
            <a:solidFill>
              <a:srgbClr val="4A2B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48716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D5FF"/>
                </a:solidFill>
              </a:rPr>
              <a:t>Extend the blast radius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45152" y="2907792"/>
            <a:ext cx="109728" cy="109728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28437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AFC"/>
                </a:solidFill>
              </a:rPr>
              <a:t>Frontend API bindings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645152" y="3255264"/>
            <a:ext cx="109728" cy="109728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31912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AFC"/>
                </a:solidFill>
              </a:rPr>
              <a:t>Tests + fixtures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4645152" y="3602736"/>
            <a:ext cx="109728" cy="109728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5387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AFC"/>
                </a:solidFill>
              </a:rPr>
              <a:t>Generated SDKs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4645152" y="3950208"/>
            <a:ext cx="109728" cy="109728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38862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AFC"/>
                </a:solidFill>
              </a:rPr>
              <a:t>Validation schemas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8083296" y="1828800"/>
            <a:ext cx="786384" cy="274320"/>
          </a:xfrm>
          <a:prstGeom prst="roundRect">
            <a:avLst>
              <a:gd name="adj" fmla="val 20000"/>
            </a:avLst>
          </a:prstGeom>
          <a:solidFill>
            <a:srgbClr val="0B2A4D"/>
          </a:solidFill>
          <a:ln w="8890">
            <a:solidFill>
              <a:srgbClr val="0F6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56448" y="1879092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BFDB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VISION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8083296" y="2212848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0C1524"/>
          </a:solidFill>
          <a:ln w="12700">
            <a:solidFill>
              <a:srgbClr val="194C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2487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DBFE"/>
                </a:solidFill>
              </a:rPr>
              <a:t>Cross-team auto-sync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357616" y="2907792"/>
            <a:ext cx="109728" cy="109728"/>
          </a:xfrm>
          <a:prstGeom prst="ellipse">
            <a:avLst/>
          </a:prstGeom>
          <a:solidFill>
            <a:srgbClr val="4589FF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67928" y="28437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Map dependencies across repos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8357616" y="3255264"/>
            <a:ext cx="109728" cy="109728"/>
          </a:xfrm>
          <a:prstGeom prst="ellipse">
            <a:avLst/>
          </a:prstGeom>
          <a:solidFill>
            <a:srgbClr val="4589FF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67928" y="31912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Delegate specialized repair tasks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357616" y="3602736"/>
            <a:ext cx="109728" cy="109728"/>
          </a:xfrm>
          <a:prstGeom prst="ellipse">
            <a:avLst/>
          </a:prstGeom>
          <a:solidFill>
            <a:srgbClr val="4589FF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67928" y="35387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Validate before applying changes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357616" y="3950208"/>
            <a:ext cx="109728" cy="109728"/>
          </a:xfrm>
          <a:prstGeom prst="ellipse">
            <a:avLst/>
          </a:prstGeom>
          <a:solidFill>
            <a:srgbClr val="4589FF"/>
          </a:solidFill>
          <a:ln w="12700">
            <a:solidFill>
              <a:srgbClr val="4589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67928" y="38862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Keep contracts continuously aligned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658368" y="4846320"/>
            <a:ext cx="10853928" cy="1005840"/>
          </a:xfrm>
          <a:prstGeom prst="roundRect">
            <a:avLst/>
          </a:prstGeom>
          <a:solidFill>
            <a:srgbClr val="0B1730"/>
          </a:solidFill>
          <a:ln w="15240">
            <a:solidFill>
              <a:srgbClr val="164E8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" y="51389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BridgeForge makes contract drift visible — and starts fixing it automatically.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828800" y="5550408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94A3B8"/>
                </a:solidFill>
              </a:rPr>
              <a:t>IBM Bob as the synchronization layer between code changes and dependent engineering artifacts.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BridgeForge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BridgeForge — Pitch Deck</dc:title>
  <dc:subject>BridgeForge IBM Bob 2.0 Hackathon Pitch Deck</dc:subject>
  <dc:creator>BridgeForge Team</dc:creator>
  <cp:lastModifiedBy>BridgeForge Team</cp:lastModifiedBy>
  <cp:revision>1</cp:revision>
  <dcterms:created xsi:type="dcterms:W3CDTF">2026-09-27T11:58:11Z</dcterms:created>
  <dcterms:modified xsi:type="dcterms:W3CDTF">2026-09-27T11:58:11Z</dcterms:modified>
</cp:coreProperties>
</file>